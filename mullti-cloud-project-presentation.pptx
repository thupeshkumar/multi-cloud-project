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Opening: Our project explores repeatable deployment and application failover across three clouds. We use a static Nginx site and a small dummy PostgreSQL dataset. Present demonstrated results separately from remaining work. Repository: https://github.com/thupeshkumar/multi-cloud-project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Discuss manual configuration drift and recovery complexity. The lab does not establish production high availability.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 A record points to one origin. Python probes origins directly. AWS is preferred, then Azure, then GCP. Cloudflare free DNS does not provide the managed health-based routing in this implementation. https://developers.cloudflare.com/dns/manage-dns-records/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revised Azure VM uses x86-64 Ubuntu and can incur cost or consume eligible credits. RDS and Azure SQL remain optional and are not established as deployed by the supplied evidence. https://learn.microsoft.com/en-us/azure/virtual-machines/sizes/general-purpose/dalsv7-series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difference between configuration, plan and state. State tracks infrastructure, not application database rows. https://developer.hashicorp.com/terraform/docs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Observed resources moved to westus2, but subnet app was missing. Capacity, quota and network readiness are separate checks. https://learn.microsoft.com/en-us/azure/virtual-machines/quotas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script requires exact lowercase health bodies. Capitalization initially prevented backup origins from qualifying. Cloudflare DNS must be DNS only. The controller runs locally, so laptop availability is a dependency. Detection, cooldown and DNS caches affect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supplied controller log: 2026-10-23T08:14:30+0000 selected azure 20.69.109.11 dry_run False. This establishes controller selection, not a measured full service RTO or a real regional outage. The reported active address changed from AWS 184.197.92.35 to Azure 20.69.109.11.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probe_success versus up. up indicates the exporter scrape path; probe_success indicates the website health probe. VM CPU/RAM and billing are outside the collected baseline. https://prometheus.io/docs/guides/multi-target-exporter/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Successful Slack delivery and live PostgreSQL scrape results were not supplied. Database monitoring uses dedicated pg_monitor roles and local VM exporters with SSH tunnels. Avoid claiming these are demonstrated. https://github.com/prometheus-community/postgres_exporter https://grafana.com/docs/grafana/latest/alerting/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Host port 8201 maps to container port 8200. The observed engine is kv/, while initial policy used secret/. The policy was corrected to kv/data/multicloud/... . Last AWS retrieval reported No value found, so successful secret storage/retrieval is not confirmed. Local HTTP is a lab setup. https://developer.hashicorp.com/vault/docs/secrets/kv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snapshot backup replication, not continuous database replication. Terraform builds infrastructure and Bash performs data operations. The controlled test freezes dummy-table writes because row evidence uses a separate query. Azure SQL uses a different engine. https://www.postgresql.org/docs/16/backup-dump.html https://www.postgresql.org/docs/16/app-pgrestore.html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Supplied run ID 20261024T140807Z-7378. AWS COMPLETE logged at 2026-10-24T14:08:42Z. Azure needs correct Blob data access. GCS configured studentmc2026abcgcp returned 404; check exact Terraform bucket output. No subsequent success evidence was supplied. Do not invent RPO/RTO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revised D-series Azure VM is outside the advertised free VM allowance. Trial credit coverage is not permanent free usage. Local monitoring saves an extra cloud VM but remains a local dependency. Budget alerts generally notify rather than cap spending.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supplied validate.yml implements CI, not automated cloud deployment. No remote Actions success evidence was supplied. Full automated apply requires secure cloud authentication and shared remote state. Repository: https://github.com/thupeshkumar/multi-cloud-project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completed observations honestly. Prepared scripts and dashboards do not prove successful live integration. No zero-data-loss claim, exact RTO or production-readiness claim is supported.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a short live demo only if current addresses and credentials work. Do not stop a database during an active backup. Screenshots/logs provide fallback evidence when available, but do not fabricate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Q: Why three providers? A: To explore repeatable infrastructure and recovery across provider boundaries. Q: Is the system production ready? A: No, the local workstation remains a dependency and database cutover is outside the baseline. Q: Is backup replication streaming replication? A: No. Q: Can PostgreSQL dumps restore directly into Azure SQL? A: No, engines differ. Q: Is a successful DNS write equal to measured RTO? A: No, verify client-visible recovery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93DD428-B972-42A8-B34F-BC4233C8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C303BB0-26EF-4157-8073-D2546CD7A0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E5B77DA-8C28-40E8-BF37-5FAA7B19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D451A9-7C14-4DDA-9FEE-D09B438B4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178D9EA-4C95-4B73-939A-50C2C4718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FE9FD64-C9FA-4256-A481-34D6BB851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55E4C49-E995-4368-AA38-DD02B674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172ED6-A65C-4891-8138-70676542DD3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C0F8A94-A2BE-44A7-B548-EAD770264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751EF48-924C-4229-9CDD-666FDD93F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34CD39-AD50-401F-8C70-83F5A828E1A7}"/>
              </a:ext>
            </a:extLst>
          </p:cNvPr>
          <p:cNvSpPr>
            <a:spLocks noGrp="1"/>
          </p:cNvSpPr>
          <p:nvPr/>
        </p:nvSpPr>
        <p:spPr>
          <a:xfrm>
            <a:off x="685800" y="1190625"/>
            <a:ext cx="10668000" cy="2333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500" b="1">
                <a:solidFill>
                  <a:srgbClr val="FFFFFF"/>
                </a:solidFill>
              </a:defRPr>
            </a:defPPr>
            <a:lvl1pPr>
              <a:defRPr sz="4500" b="1">
                <a:solidFill>
                  <a:srgbClr val="FFFFFF"/>
                </a:solidFill>
              </a:defRPr>
            </a:lvl1pPr>
            <a:lvl2pPr>
              <a:defRPr sz="4500" b="1">
                <a:solidFill>
                  <a:srgbClr val="FFFFFF"/>
                </a:solidFill>
              </a:defRPr>
            </a:lvl2pPr>
            <a:lvl3pPr>
              <a:defRPr sz="4500" b="1">
                <a:solidFill>
                  <a:srgbClr val="FFFFFF"/>
                </a:solidFill>
              </a:defRPr>
            </a:lvl3pPr>
            <a:lvl4pPr>
              <a:defRPr sz="4500" b="1">
                <a:solidFill>
                  <a:srgbClr val="FFFFFF"/>
                </a:solidFill>
              </a:defRPr>
            </a:lvl4pPr>
            <a:lvl5pPr>
              <a:defRPr sz="4500" b="1">
                <a:solidFill>
                  <a:srgbClr val="FFFFFF"/>
                </a:solidFill>
              </a:defRPr>
            </a:lvl5pPr>
            <a:lvl6pPr>
              <a:defRPr sz="4500" b="1">
                <a:solidFill>
                  <a:srgbClr val="FFFFFF"/>
                </a:solidFill>
              </a:defRPr>
            </a:lvl6pPr>
            <a:lvl7pPr>
              <a:defRPr sz="4500" b="1">
                <a:solidFill>
                  <a:srgbClr val="FFFFFF"/>
                </a:solidFill>
              </a:defRPr>
            </a:lvl7pPr>
            <a:lvl8pPr>
              <a:defRPr sz="4500" b="1">
                <a:solidFill>
                  <a:srgbClr val="FFFFFF"/>
                </a:solidFill>
              </a:defRPr>
            </a:lvl8pPr>
            <a:lvl9pPr>
              <a:defRPr sz="4500" b="1">
                <a:solidFill>
                  <a:srgbClr val="FFFFFF"/>
                </a:solidFill>
              </a:defRPr>
            </a:lvl9pPr>
          </a:lstStyle>
          <a:p>
            <a:pPr>
              <a:defRPr sz="4500" b="1">
                <a:solidFill>
                  <a:srgbClr val="FFFFFF"/>
                </a:solidFill>
              </a:defRPr>
            </a:pPr>
            <a:r>
              <a:rPr sz="4500" b="1" dirty="0">
                <a:solidFill>
                  <a:srgbClr val="FFFFFF"/>
                </a:solidFill>
              </a:rPr>
              <a:t>Multi Cloud Deployment</a:t>
            </a:r>
          </a:p>
          <a:p>
            <a:pPr>
              <a:defRPr sz="4500" b="1">
                <a:solidFill>
                  <a:srgbClr val="FFFFFF"/>
                </a:solidFill>
              </a:defRPr>
            </a:pPr>
            <a:r>
              <a:rPr sz="4500" b="1" dirty="0">
                <a:solidFill>
                  <a:srgbClr val="FFFFFF"/>
                </a:solidFill>
              </a:rPr>
              <a:t>and Management</a:t>
            </a:r>
          </a:p>
          <a:p>
            <a:pPr>
              <a:defRPr sz="4500" b="1">
                <a:solidFill>
                  <a:srgbClr val="FFFFFF"/>
                </a:solidFill>
              </a:defRPr>
            </a:pPr>
            <a:r>
              <a:rPr sz="4500" b="1" dirty="0">
                <a:solidFill>
                  <a:srgbClr val="FFFFFF"/>
                </a:solidFill>
              </a:rPr>
              <a:t>with Terraform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5B00E6-C208-4AD6-8953-F78AE02A3D8F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67D2CB"/>
                </a:solidFill>
              </a:defRPr>
            </a:defPPr>
            <a:lvl1pPr>
              <a:defRPr sz="2400" b="1">
                <a:solidFill>
                  <a:srgbClr val="67D2CB"/>
                </a:solidFill>
              </a:defRPr>
            </a:lvl1pPr>
            <a:lvl2pPr>
              <a:defRPr sz="2400" b="1">
                <a:solidFill>
                  <a:srgbClr val="67D2CB"/>
                </a:solidFill>
              </a:defRPr>
            </a:lvl2pPr>
            <a:lvl3pPr>
              <a:defRPr sz="2400" b="1">
                <a:solidFill>
                  <a:srgbClr val="67D2CB"/>
                </a:solidFill>
              </a:defRPr>
            </a:lvl3pPr>
            <a:lvl4pPr>
              <a:defRPr sz="2400" b="1">
                <a:solidFill>
                  <a:srgbClr val="67D2CB"/>
                </a:solidFill>
              </a:defRPr>
            </a:lvl4pPr>
            <a:lvl5pPr>
              <a:defRPr sz="2400" b="1">
                <a:solidFill>
                  <a:srgbClr val="67D2CB"/>
                </a:solidFill>
              </a:defRPr>
            </a:lvl5pPr>
            <a:lvl6pPr>
              <a:defRPr sz="2400" b="1">
                <a:solidFill>
                  <a:srgbClr val="67D2CB"/>
                </a:solidFill>
              </a:defRPr>
            </a:lvl6pPr>
            <a:lvl7pPr>
              <a:defRPr sz="2400" b="1">
                <a:solidFill>
                  <a:srgbClr val="67D2CB"/>
                </a:solidFill>
              </a:defRPr>
            </a:lvl7pPr>
            <a:lvl8pPr>
              <a:defRPr sz="2400" b="1">
                <a:solidFill>
                  <a:srgbClr val="67D2CB"/>
                </a:solidFill>
              </a:defRPr>
            </a:lvl8pPr>
            <a:lvl9pPr>
              <a:defRPr sz="2400" b="1">
                <a:solidFill>
                  <a:srgbClr val="67D2CB"/>
                </a:solidFill>
              </a:defRPr>
            </a:lvl9pPr>
          </a:lstStyle>
          <a:p>
            <a:pPr>
              <a:defRPr sz="2400" b="1">
                <a:solidFill>
                  <a:srgbClr val="67D2CB"/>
                </a:solidFill>
              </a:defRPr>
            </a:pPr>
            <a:r>
              <a:rPr sz="2400" b="1" dirty="0" err="1">
                <a:solidFill>
                  <a:srgbClr val="67D2CB"/>
                </a:solidFill>
              </a:rPr>
              <a:t>Thupeshkumar</a:t>
            </a:r>
            <a:r>
              <a:rPr lang="en-US" dirty="0"/>
              <a:t>,</a:t>
            </a:r>
            <a:r>
              <a:rPr sz="2400" b="1" dirty="0">
                <a:solidFill>
                  <a:srgbClr val="67D2CB"/>
                </a:solidFill>
              </a:rPr>
              <a:t> </a:t>
            </a:r>
            <a:r>
              <a:rPr lang="en-US" dirty="0"/>
              <a:t>Jilan Basha, Shuaib Shekh &amp; Rishav Mukhopadhyay</a:t>
            </a:r>
            <a:endParaRPr sz="2400" b="1" dirty="0">
              <a:solidFill>
                <a:srgbClr val="67D2C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109994-5E9B-49B3-8A00-4846B3D68EBC}"/>
              </a:ext>
            </a:extLst>
          </p:cNvPr>
          <p:cNvSpPr>
            <a:spLocks noGrp="1"/>
          </p:cNvSpPr>
          <p:nvPr/>
        </p:nvSpPr>
        <p:spPr>
          <a:xfrm>
            <a:off x="723900" y="4733925"/>
            <a:ext cx="99060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FFFFFF"/>
                </a:solidFill>
              </a:defRPr>
            </a:defPPr>
            <a:lvl1pPr>
              <a:defRPr sz="2025" b="0">
                <a:solidFill>
                  <a:srgbClr val="FFFFFF"/>
                </a:solidFill>
              </a:defRPr>
            </a:lvl1pPr>
            <a:lvl2pPr>
              <a:defRPr sz="2025" b="0">
                <a:solidFill>
                  <a:srgbClr val="FFFFFF"/>
                </a:solidFill>
              </a:defRPr>
            </a:lvl2pPr>
            <a:lvl3pPr>
              <a:defRPr sz="2025" b="0">
                <a:solidFill>
                  <a:srgbClr val="FFFFFF"/>
                </a:solidFill>
              </a:defRPr>
            </a:lvl3pPr>
            <a:lvl4pPr>
              <a:defRPr sz="2025" b="0">
                <a:solidFill>
                  <a:srgbClr val="FFFFFF"/>
                </a:solidFill>
              </a:defRPr>
            </a:lvl4pPr>
            <a:lvl5pPr>
              <a:defRPr sz="2025" b="0">
                <a:solidFill>
                  <a:srgbClr val="FFFFFF"/>
                </a:solidFill>
              </a:defRPr>
            </a:lvl5pPr>
            <a:lvl6pPr>
              <a:defRPr sz="2025" b="0">
                <a:solidFill>
                  <a:srgbClr val="FFFFFF"/>
                </a:solidFill>
              </a:defRPr>
            </a:lvl6pPr>
            <a:lvl7pPr>
              <a:defRPr sz="2025" b="0">
                <a:solidFill>
                  <a:srgbClr val="FFFFFF"/>
                </a:solidFill>
              </a:defRPr>
            </a:lvl7pPr>
            <a:lvl8pPr>
              <a:defRPr sz="2025" b="0">
                <a:solidFill>
                  <a:srgbClr val="FFFFFF"/>
                </a:solidFill>
              </a:defRPr>
            </a:lvl8pPr>
            <a:lvl9pPr>
              <a:defRPr sz="2025" b="0">
                <a:solidFill>
                  <a:srgbClr val="FFFFFF"/>
                </a:solidFill>
              </a:defRPr>
            </a:lvl9pPr>
          </a:lstStyle>
          <a:p>
            <a:pPr>
              <a:defRPr sz="2025" b="0">
                <a:solidFill>
                  <a:srgbClr val="FFFFFF"/>
                </a:solidFill>
              </a:defRPr>
            </a:pPr>
            <a:r>
              <a:rPr sz="2025" b="0" dirty="0">
                <a:solidFill>
                  <a:srgbClr val="FFFFFF"/>
                </a:solidFill>
              </a:rPr>
              <a:t>Project  presentation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C2D5B-E588-403E-846F-2C75B9A7A2D8}"/>
              </a:ext>
            </a:extLst>
          </p:cNvPr>
          <p:cNvSpPr>
            <a:spLocks noGrp="1"/>
          </p:cNvSpPr>
          <p:nvPr/>
        </p:nvSpPr>
        <p:spPr>
          <a:xfrm>
            <a:off x="723900" y="5314950"/>
            <a:ext cx="9906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B9CEDB"/>
                </a:solidFill>
              </a:defRPr>
            </a:defPPr>
            <a:lvl1pPr>
              <a:defRPr sz="1725" b="0">
                <a:solidFill>
                  <a:srgbClr val="B9CEDB"/>
                </a:solidFill>
              </a:defRPr>
            </a:lvl1pPr>
            <a:lvl2pPr>
              <a:defRPr sz="1725" b="0">
                <a:solidFill>
                  <a:srgbClr val="B9CEDB"/>
                </a:solidFill>
              </a:defRPr>
            </a:lvl2pPr>
            <a:lvl3pPr>
              <a:defRPr sz="1725" b="0">
                <a:solidFill>
                  <a:srgbClr val="B9CEDB"/>
                </a:solidFill>
              </a:defRPr>
            </a:lvl3pPr>
            <a:lvl4pPr>
              <a:defRPr sz="1725" b="0">
                <a:solidFill>
                  <a:srgbClr val="B9CEDB"/>
                </a:solidFill>
              </a:defRPr>
            </a:lvl4pPr>
            <a:lvl5pPr>
              <a:defRPr sz="1725" b="0">
                <a:solidFill>
                  <a:srgbClr val="B9CEDB"/>
                </a:solidFill>
              </a:defRPr>
            </a:lvl5pPr>
            <a:lvl6pPr>
              <a:defRPr sz="1725" b="0">
                <a:solidFill>
                  <a:srgbClr val="B9CEDB"/>
                </a:solidFill>
              </a:defRPr>
            </a:lvl6pPr>
            <a:lvl7pPr>
              <a:defRPr sz="1725" b="0">
                <a:solidFill>
                  <a:srgbClr val="B9CEDB"/>
                </a:solidFill>
              </a:defRPr>
            </a:lvl7pPr>
            <a:lvl8pPr>
              <a:defRPr sz="1725" b="0">
                <a:solidFill>
                  <a:srgbClr val="B9CEDB"/>
                </a:solidFill>
              </a:defRPr>
            </a:lvl8pPr>
            <a:lvl9pPr>
              <a:defRPr sz="1725" b="0">
                <a:solidFill>
                  <a:srgbClr val="B9CEDB"/>
                </a:solidFill>
              </a:defRPr>
            </a:lvl9pPr>
          </a:lstStyle>
          <a:p>
            <a:pPr>
              <a:defRPr sz="1725" b="0">
                <a:solidFill>
                  <a:srgbClr val="B9CEDB"/>
                </a:solidFill>
              </a:defRPr>
            </a:pPr>
            <a:r>
              <a:rPr sz="1725" b="0">
                <a:solidFill>
                  <a:srgbClr val="B9CEDB"/>
                </a:solidFill>
              </a:rPr>
              <a:t>Submission date 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2483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FF611F-6F4A-4F04-98BC-06ED8ADF096E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Problem and 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EBDA7-9C27-4471-8977-083B6A15ACFA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FE0E21-3F58-425D-88D8-B2CBE808037A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F19C6C-2AB3-433A-9C1D-753352EFC093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Deployment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046FC4-AEC0-4436-9140-B6CFD17E30BB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Repeat VM, network and storage creation across three providers.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444D64-DC18-4CF5-8AB9-A208FFEA4CA7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Availability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EDF1A-3DA9-4AFD-B7D9-A530A1B9C948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Detect an unhealthy website and select a healthy origin through DNS.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54B3D5-297A-4D8B-A5C5-A8B0159B0111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Operations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13124C-CFE0-4252-A432-CBA21DF9E172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Observe application health, protect credentials and test data recovery.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A56744-92B2-4C6F-A710-3F96D75D6F9B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Cost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B04AEA-4EDF-4D21-8EDA-16987CEDC18B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Use eligible allowances and credits with local monitoring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111161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D24FDF-E1E5-4BB6-8C9E-D446C0AC7FF9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4A25D8-381E-434F-B261-3F8202A897AA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98DAEE-3E46-4354-9B2C-95F1E01297AF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827BF9-23F4-4F46-AC45-60C9CDE15C9E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User endpoint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http://app.thupesh.com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Cloudflare DNS-only record and local Python controller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Application origins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Nginx on AWS, Azure and GCP virtual machines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Data protection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PostgreSQL snapshots and private object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Local workstation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Docker Desktop with Prometheus, Grafana and Vault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43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8E69E4-6C4C-4A0B-BD0A-471AEA6E159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Cloud resource configuration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9A653B-8744-484C-BBD8-835F0FF75C72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B8592-2AB9-4818-98B5-988EE49F18A3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1204D5-A122-4BB4-938E-5D4040968E8B}"/>
              </a:ext>
            </a:extLst>
          </p:cNvPr>
          <p:cNvGraphicFramePr/>
          <p:nvPr/>
        </p:nvGraphicFramePr>
        <p:xfrm>
          <a:off x="609600" y="1571625"/>
          <a:ext cx="10972800" cy="304800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Provider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Compute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Storage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AWS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us-east-1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t3.micro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Private S3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Azure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West US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Standard_D2als_v7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Private Blob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GCP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us-central1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e2-micro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Private GCS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94311C6-84F2-4B3E-B934-7C0EFC7C785B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07D87"/>
                </a:solidFill>
              </a:defRPr>
            </a:defPPr>
            <a:lvl1pPr>
              <a:defRPr sz="1950" b="1">
                <a:solidFill>
                  <a:srgbClr val="007D87"/>
                </a:solidFill>
              </a:defRPr>
            </a:lvl1pPr>
            <a:lvl2pPr>
              <a:defRPr sz="1950" b="1">
                <a:solidFill>
                  <a:srgbClr val="007D87"/>
                </a:solidFill>
              </a:defRPr>
            </a:lvl2pPr>
            <a:lvl3pPr>
              <a:defRPr sz="1950" b="1">
                <a:solidFill>
                  <a:srgbClr val="007D87"/>
                </a:solidFill>
              </a:defRPr>
            </a:lvl3pPr>
            <a:lvl4pPr>
              <a:defRPr sz="1950" b="1">
                <a:solidFill>
                  <a:srgbClr val="007D87"/>
                </a:solidFill>
              </a:defRPr>
            </a:lvl4pPr>
            <a:lvl5pPr>
              <a:defRPr sz="1950" b="1">
                <a:solidFill>
                  <a:srgbClr val="007D87"/>
                </a:solidFill>
              </a:defRPr>
            </a:lvl5pPr>
            <a:lvl6pPr>
              <a:defRPr sz="1950" b="1">
                <a:solidFill>
                  <a:srgbClr val="007D87"/>
                </a:solidFill>
              </a:defRPr>
            </a:lvl6pPr>
            <a:lvl7pPr>
              <a:defRPr sz="1950" b="1">
                <a:solidFill>
                  <a:srgbClr val="007D87"/>
                </a:solidFill>
              </a:defRPr>
            </a:lvl7pPr>
            <a:lvl8pPr>
              <a:defRPr sz="1950" b="1">
                <a:solidFill>
                  <a:srgbClr val="007D87"/>
                </a:solidFill>
              </a:defRPr>
            </a:lvl8pPr>
            <a:lvl9pPr>
              <a:defRPr sz="1950" b="1">
                <a:solidFill>
                  <a:srgbClr val="007D87"/>
                </a:solidFill>
              </a:defRPr>
            </a:lvl9pPr>
          </a:lstStyle>
          <a:p>
            <a:pPr>
              <a:defRPr sz="1950" b="1">
                <a:solidFill>
                  <a:srgbClr val="007D87"/>
                </a:solidFill>
              </a:defRPr>
            </a:pPr>
            <a:r>
              <a:rPr sz="1950" b="1">
                <a:solidFill>
                  <a:srgbClr val="007D87"/>
                </a:solidFill>
              </a:rPr>
              <a:t>PostgreSQL 16 runs on GCP. AWS hosts the recovery container.</a:t>
            </a:r>
          </a:p>
        </p:txBody>
      </p:sp>
    </p:spTree>
    <p:extLst>
      <p:ext uri="{BB962C8B-B14F-4D97-AF65-F5344CB8AC3E}">
        <p14:creationId xmlns:p14="http://schemas.microsoft.com/office/powerpoint/2010/main" val="337407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9D8AD-DBF9-4290-B7F3-0B988765F996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Terraform structure and deployment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4B6972-3A05-43EA-BE6E-7600DC00DF82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39E64-3B85-4828-B5FD-A48AE4FD9B74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2A8A6B-AA59-4094-9CFE-B05020A6EE7A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Modules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49D4C5-E631-4EC3-B283-D96E162B5102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Separate AWS, Azure and GCP modules define cloud resources.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A9A97-6312-49FB-8804-F0D000A44B9A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Startup scripts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5B5130-E3B3-48DB-9C03-CE8EC2E281EC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Nginx exposes a webpage and a provider-specific /health endpoint.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FFA4F9-C8D9-4009-8784-73CFE7C1EC02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Workflow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999306-D6D3-4B54-8C78-BD740B11500D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Initialize, validate, review a saved plan and apply 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4CB540-5C6D-4FE8-8177-4F1131F603AB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State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131D89-BA3B-4FBB-8079-A18E61BFBEAC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Preserve state during retries and review resource replacements.</a:t>
            </a:r>
          </a:p>
        </p:txBody>
      </p:sp>
    </p:spTree>
    <p:extLst>
      <p:ext uri="{BB962C8B-B14F-4D97-AF65-F5344CB8AC3E}">
        <p14:creationId xmlns:p14="http://schemas.microsoft.com/office/powerpoint/2010/main" val="1693868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A5914D-2FE9-4A09-802C-5FD1BF4A3632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Azure deployment constraints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2D2CB3-ECC3-49FC-829F-005E4970DC5C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E99D9C-707A-45BD-908F-EF037488CD62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701B95-F17C-40BA-99DD-847824770C57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9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B1s unavailable in East US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Check capacity, supported sizes and regions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Bpsv2 family quota was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Check family and total regional CPU quotas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West US 2 D2als_v7 selected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Use x86-64 Ubuntu and review cost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NIC referenced missing subnet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Check subnet existence and dependencies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714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F06D72-28F5-449D-BBD2-EF58658A9127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DNS failover controller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6D9CD3-1EA2-46C4-BC77-09A8FDB27F2E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53E3C9-E644-42B9-87BD-24AFA46A7070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07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C0C2F7-882D-46AC-8825-9D9FB07F23C3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409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7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Setting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Configuration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Origin preference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AWS, Azure, GCP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Probe interval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30 seconds plus request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Qualification and failure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Three consecutive checks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Cooldown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180 seconds between changes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All origins unhealthy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Leave DNS unchanged and log the condition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192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A9522E-7BB0-40BA-BB11-4A72DD84106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Recorded AWS to Azure failover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998A61-AEF2-431F-A392-C21E60E1F7F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9D951F-9439-437A-85D8-7F37C3753CE1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F6E38C-AB84-4BBC-9F3F-E3573D85A2F0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Trigger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BB601F-1E47-447A-9C90-A013FD7910C8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AWS Nginx failed three consecutive checks.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0959CB-1140-45D5-B20E-868C4645806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Healthy backups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8AD71A-F6F8-4D91-8C31-796EFF7AA5EC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Azure and GCP continued to pass their health probes.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050B9A-7B74-4D26-90D2-6605918F1358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DNS selection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114B92-13C9-4344-8857-B34395056354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23 October 2026 at 08:14:30 UTC: controller selected Azure.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27A66-B3C9-4A92-82AD-D27D33F751B1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Evidence limit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05F0C7-B902-48DC-B81B-54D3BE0262D7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Client recovery time needs separate DNS and HTTP measurements.</a:t>
            </a:r>
          </a:p>
        </p:txBody>
      </p:sp>
    </p:spTree>
    <p:extLst>
      <p:ext uri="{BB962C8B-B14F-4D97-AF65-F5344CB8AC3E}">
        <p14:creationId xmlns:p14="http://schemas.microsoft.com/office/powerpoint/2010/main" val="68730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F093A5-6E3F-400B-9F1E-AF3970283E3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Local monitoring with Docker Desktop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7FC448-2725-4C00-ABA8-C160EBB56796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DC14BD-9FFC-43A2-B4CC-890CAD4D7FBB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F77A9-52AA-47FE-B8C3-F29FEE1D13A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Collection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D31CB-A1CC-411B-BBDF-64694420C927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Blackbox exporter probes each cloud website directly.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52DDF7-6A6A-4849-BB09-E78A3E270AEF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Metrics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9F5A3B-CD0B-4AC4-AB04-220516884105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Prometheus records health, HTTP status and request duration.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160CDB-71A2-455C-B8C6-B97D6AED27AE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Visualization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740525-2F02-4B71-99A5-6B46DAFF4F9B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Grafana presents availability history and response-time panels.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3DC467-D7A2-4015-97B0-406FDE6DBF3F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Dependency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1C840-0D11-4E1D-AAD6-079D5502D8E6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The workstation and Docker Desktop must remain running.</a:t>
            </a:r>
          </a:p>
        </p:txBody>
      </p:sp>
    </p:spTree>
    <p:extLst>
      <p:ext uri="{BB962C8B-B14F-4D97-AF65-F5344CB8AC3E}">
        <p14:creationId xmlns:p14="http://schemas.microsoft.com/office/powerpoint/2010/main" val="514396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34A061-8443-44F6-AE7E-89F1E68C0F98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Alerts and database monitoring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C8769C-6D60-4282-86E6-04753A539C9B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E425B0-8321-4EE6-81F6-4CA8A08699D7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A34248-F433-4FAB-9FFE-07A78B9AE756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233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Integration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Evidence status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Website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HTTP health probes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Direct endpoint checks reported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Slack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Grafana contact point and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Setup instructions supplied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PostgreSQL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pg_up through private SSH tunnels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Monitoring add-on prepared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Exporter transport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up for postgres scrape job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Live verification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757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12CB53-A150-4FBE-9C8D-B9AC83CE0B43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Vault credential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928B60-DAD8-4153-A9A9-07E7686059BF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3797D5-5F09-4A2D-BD34-91D7E2F0A2C8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7728A5-3EB7-4622-B540-8874B1AF34E6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Local 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E62CD6-837F-47F9-AC6A-ADF4568FD6EA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Persistent Docker volume with manual unseal and localhost access.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83E625-A4B5-4800-9679-AE05A8944AD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Secret layout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E54963-1C32-4551-9267-591C0A325894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KV version 2 at kv/multicloud for provider and DNS credentials.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DCBE18-9298-413A-8E31-EEC3D291ED19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Access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81CBE-61B4-4604-8E22-1EF4DCB8A2B6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Restricted read policy and a short-lived project token.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7CD42-F5DF-4213-BB17-FE86155E12C3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Current status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1CD85D-CCC9-46F6-9BD1-EF3E109314E6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Vault responds. AWS secret retrieval still needs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13005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BDE43D-DC6A-48E8-A7FD-9F3C1D2B31B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Sprint 4 backup and recovery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0479F2-9309-446D-A0BD-6724C213F074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D3ADA-596C-4160-AF96-063048AF9866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ED18A6-819F-4D99-9070-6C709BE1CFAF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Implementation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PostgreSQL 16 container on GCP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Custom-format dump and SHA256 checksums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Redundant copies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S3, Azure Blob and GCS completion markers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New PostgreSQL database on AWS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Validation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Successful restore and ordered dummy-row comparison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915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432DD5-6ABC-4140-8A0E-5D3FDA374760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Backup replication test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5807E8-38DE-46CD-A6BB-5CAE2680607A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A49A15-B267-4EF9-9F10-7315FE521618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8D75D15-47F4-4188-B204-9F8731F169DD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Destination or test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Recorded observation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AWS S3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Backup generation completed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Azure Blob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Data permission blocked upload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Google Cloud Storage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Configured bucket returned 404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AWS database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Verified restore evidence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36D659E1-128E-4417-9C18-23DA3B5E7C28}"/>
              </a:ext>
            </a:extLst>
          </p:cNvPr>
          <p:cNvSpPr>
            <a:spLocks noGrp="1"/>
          </p:cNvSpPr>
          <p:nvPr/>
        </p:nvSpPr>
        <p:spPr>
          <a:xfrm>
            <a:off x="666750" y="5638800"/>
            <a:ext cx="1076325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007D87"/>
                </a:solidFill>
              </a:defRPr>
            </a:defPPr>
            <a:lvl1pPr>
              <a:defRPr sz="1950" b="1">
                <a:solidFill>
                  <a:srgbClr val="007D87"/>
                </a:solidFill>
              </a:defRPr>
            </a:lvl1pPr>
            <a:lvl2pPr>
              <a:defRPr sz="1950" b="1">
                <a:solidFill>
                  <a:srgbClr val="007D87"/>
                </a:solidFill>
              </a:defRPr>
            </a:lvl2pPr>
            <a:lvl3pPr>
              <a:defRPr sz="1950" b="1">
                <a:solidFill>
                  <a:srgbClr val="007D87"/>
                </a:solidFill>
              </a:defRPr>
            </a:lvl3pPr>
            <a:lvl4pPr>
              <a:defRPr sz="1950" b="1">
                <a:solidFill>
                  <a:srgbClr val="007D87"/>
                </a:solidFill>
              </a:defRPr>
            </a:lvl4pPr>
            <a:lvl5pPr>
              <a:defRPr sz="1950" b="1">
                <a:solidFill>
                  <a:srgbClr val="007D87"/>
                </a:solidFill>
              </a:defRPr>
            </a:lvl5pPr>
            <a:lvl6pPr>
              <a:defRPr sz="1950" b="1">
                <a:solidFill>
                  <a:srgbClr val="007D87"/>
                </a:solidFill>
              </a:defRPr>
            </a:lvl6pPr>
            <a:lvl7pPr>
              <a:defRPr sz="1950" b="1">
                <a:solidFill>
                  <a:srgbClr val="007D87"/>
                </a:solidFill>
              </a:defRPr>
            </a:lvl7pPr>
            <a:lvl8pPr>
              <a:defRPr sz="1950" b="1">
                <a:solidFill>
                  <a:srgbClr val="007D87"/>
                </a:solidFill>
              </a:defRPr>
            </a:lvl8pPr>
            <a:lvl9pPr>
              <a:defRPr sz="1950" b="1">
                <a:solidFill>
                  <a:srgbClr val="007D87"/>
                </a:solidFill>
              </a:defRPr>
            </a:lvl9pPr>
          </a:lstStyle>
          <a:p>
            <a:pPr>
              <a:defRPr sz="1950" b="1">
                <a:solidFill>
                  <a:srgbClr val="007D87"/>
                </a:solidFill>
              </a:defRPr>
            </a:pPr>
            <a:r>
              <a:rPr sz="1950" b="1">
                <a:solidFill>
                  <a:srgbClr val="007D87"/>
                </a:solidFill>
              </a:rPr>
              <a:t>Next gate: complete all backup copies and verify an independent restore.</a:t>
            </a:r>
          </a:p>
        </p:txBody>
      </p:sp>
    </p:spTree>
    <p:extLst>
      <p:ext uri="{BB962C8B-B14F-4D97-AF65-F5344CB8AC3E}">
        <p14:creationId xmlns:p14="http://schemas.microsoft.com/office/powerpoint/2010/main" val="616133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DA0751-BEB6-42D9-9C82-742FED486EB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Security and cost 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2E61C5-9BF5-4969-BA71-548A7293BE68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5423A9-CF5F-4639-8609-D3B1A1573E2A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9D1BB-6742-4DA1-99A6-EA92A8E3F71E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Access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9B277F-47F7-4B00-A7D6-BF43A599BC17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Restricted SSH, private storage and no public database ports.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955279-D78F-4999-BB15-5B27631C8653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Credentials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7B02D-1D89-405E-B360-C0EC9BBD89FB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Keep tokens, keys, state, plans and database dumps outside Git.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CF603B-FA4E-4629-83AC-7077E95B6FE3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Costs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98CB38-534D-44B6-98FB-2479EE3F8AB8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Review VM, public IP, disk, storage and transfer charges.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BCA87D-8213-46B2-AB41-B5791EEBA2B3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Cleanup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2DA770-C579-4DAD-AD24-C31210B7F3DB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Preserve verified backups before deleting infrastructure or volumes.</a:t>
            </a:r>
          </a:p>
        </p:txBody>
      </p:sp>
    </p:spTree>
    <p:extLst>
      <p:ext uri="{BB962C8B-B14F-4D97-AF65-F5344CB8AC3E}">
        <p14:creationId xmlns:p14="http://schemas.microsoft.com/office/powerpoint/2010/main" val="1937363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00D30D-6C05-44F9-B9E6-048ED2D549C1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Version control and CI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1E12B-7443-47A7-BFF9-CBC52EF9FEFB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49A1B0-08E1-46FD-BD72-DB99CA44F542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DF9DF6-CF8C-4D08-BBBC-47A31167B7A0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Repository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336738-1DE1-4B15-A426-5D98F07C898A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github.com/thupeshkumar/multi-cloud-project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4AE74-524A-417C-B53D-1A7FAC93F405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Source control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01CFCC-2ED7-4ED1-B26C-661B49A042DE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Terraform modules, startup scripts, monitoring and failover code.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176146-B3DF-4505-AC0F-6979AE51FB5A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Automatic checks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08D334-9B08-4DD0-969B-04E74BD652CD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Formatting, initialization and configuration validation.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EECBF6-C36D-4792-8CB6-34F2821DF910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Deployment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E7319B-A9D7-4566-839E-E114D740F3BF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Manual plan review and apply from an authenticated workstation.</a:t>
            </a:r>
          </a:p>
        </p:txBody>
      </p:sp>
    </p:spTree>
    <p:extLst>
      <p:ext uri="{BB962C8B-B14F-4D97-AF65-F5344CB8AC3E}">
        <p14:creationId xmlns:p14="http://schemas.microsoft.com/office/powerpoint/2010/main" val="1347741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ADD208-D9AA-4C28-9280-BEEFC18B5CFB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Outcomes and remaining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3BBF4B-F624-4169-9711-E624DDC03942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707BCA-9FDD-49CB-989D-8AF1150916A8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B1BB18-6E7C-4263-A57E-F55D11F64DB5}"/>
              </a:ext>
            </a:extLst>
          </p:cNvPr>
          <p:cNvGraphicFramePr/>
          <p:nvPr/>
        </p:nvGraphicFramePr>
        <p:xfrm>
          <a:off x="609600" y="1571625"/>
          <a:ext cx="10972800" cy="38100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Demonstrated or observed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Remaining acceptance work</a:t>
                      </a:r>
                    </a:p>
                  </a:txBody>
                  <a:tcPr>
                    <a:solidFill>
                      <a:srgbClr val="102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Cloud websites and health endpoints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Complete Slack notification test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Controller selected Azure after AWS failure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Verify Vault credential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AWS backup upload completed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Complete Azure and GCS backup copies</a:t>
                      </a:r>
                    </a:p>
                  </a:txBody>
                  <a:tcPr>
                    <a:solidFill>
                      <a:srgbClr val="EF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Deployment and monitoring configurations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044"/>
                          </a:solidFill>
                        </a:rPr>
                        <a:t>Restore on AWS and measure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456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EC25DE-2DAC-4097-9CD2-2B2632DCC3DA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Viva demonstration sequence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A9C7D5-24BB-49A1-B87A-9EE61E2DEE91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42A04B-8FFA-4A66-B580-0E6FCF7DE173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687D0D-36C2-4625-9F76-D702AE5648B3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Baseline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44FAB8-B8B2-4017-9C8A-23AF548F37DA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Show three health responses and the Terraform resource modules.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F2CAC0-205B-4D5B-890B-4C8DD4A576D9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Outage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C49765-C3CC-40D2-A01C-464AC6F6918B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Stop AWS Nginx and observe Azure selection in the controller log.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F1893E-F420-4DAD-860B-205601FD13D4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Monitoring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82522D-6EA1-4233-BE94-967110330F5F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Show website metrics and explain application versus scrape health.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2DE94A9-08B0-4543-AD8B-1607FF29AB7B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Recovery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6365C5-41EC-48E1-B74C-A46A3DB0DCB5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Show completed backup and verified restore evidence when available.</a:t>
            </a:r>
          </a:p>
        </p:txBody>
      </p:sp>
    </p:spTree>
    <p:extLst>
      <p:ext uri="{BB962C8B-B14F-4D97-AF65-F5344CB8AC3E}">
        <p14:creationId xmlns:p14="http://schemas.microsoft.com/office/powerpoint/2010/main" val="145774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491D77-AF32-4428-B32E-2EA75549480C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300" b="1">
                <a:solidFill>
                  <a:srgbClr val="163044"/>
                </a:solidFill>
              </a:defRPr>
            </a:defPPr>
            <a:lvl1pPr>
              <a:defRPr sz="3300" b="1">
                <a:solidFill>
                  <a:srgbClr val="163044"/>
                </a:solidFill>
              </a:defRPr>
            </a:lvl1pPr>
            <a:lvl2pPr>
              <a:defRPr sz="3300" b="1">
                <a:solidFill>
                  <a:srgbClr val="163044"/>
                </a:solidFill>
              </a:defRPr>
            </a:lvl2pPr>
            <a:lvl3pPr>
              <a:defRPr sz="3300" b="1">
                <a:solidFill>
                  <a:srgbClr val="163044"/>
                </a:solidFill>
              </a:defRPr>
            </a:lvl3pPr>
            <a:lvl4pPr>
              <a:defRPr sz="3300" b="1">
                <a:solidFill>
                  <a:srgbClr val="163044"/>
                </a:solidFill>
              </a:defRPr>
            </a:lvl4pPr>
            <a:lvl5pPr>
              <a:defRPr sz="3300" b="1">
                <a:solidFill>
                  <a:srgbClr val="163044"/>
                </a:solidFill>
              </a:defRPr>
            </a:lvl5pPr>
            <a:lvl6pPr>
              <a:defRPr sz="3300" b="1">
                <a:solidFill>
                  <a:srgbClr val="163044"/>
                </a:solidFill>
              </a:defRPr>
            </a:lvl6pPr>
            <a:lvl7pPr>
              <a:defRPr sz="3300" b="1">
                <a:solidFill>
                  <a:srgbClr val="163044"/>
                </a:solidFill>
              </a:defRPr>
            </a:lvl7pPr>
            <a:lvl8pPr>
              <a:defRPr sz="3300" b="1">
                <a:solidFill>
                  <a:srgbClr val="163044"/>
                </a:solidFill>
              </a:defRPr>
            </a:lvl8pPr>
            <a:lvl9pPr>
              <a:defRPr sz="3300" b="1">
                <a:solidFill>
                  <a:srgbClr val="163044"/>
                </a:solidFill>
              </a:defRPr>
            </a:lvl9pPr>
          </a:lstStyle>
          <a:p>
            <a:pPr>
              <a:defRPr sz="3300" b="1">
                <a:solidFill>
                  <a:srgbClr val="163044"/>
                </a:solidFill>
              </a:defRPr>
            </a:pPr>
            <a:r>
              <a:rPr sz="3300" b="1">
                <a:solidFill>
                  <a:srgbClr val="163044"/>
                </a:solidFill>
              </a:rPr>
              <a:t>Viva questions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40422-B9D2-44DD-A62B-77FDD77DB509}"/>
              </a:ext>
            </a:extLst>
          </p:cNvPr>
          <p:cNvSpPr>
            <a:spLocks noGrp="1"/>
          </p:cNvSpPr>
          <p:nvPr/>
        </p:nvSpPr>
        <p:spPr>
          <a:xfrm>
            <a:off x="609600" y="6353175"/>
            <a:ext cx="6191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Thupeshkumar &amp; Jilan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31420D-EFA1-41CF-ABD1-4809A68AFB84}"/>
              </a:ext>
            </a:extLst>
          </p:cNvPr>
          <p:cNvSpPr>
            <a:spLocks noGrp="1"/>
          </p:cNvSpPr>
          <p:nvPr/>
        </p:nvSpPr>
        <p:spPr>
          <a:xfrm>
            <a:off x="10953750" y="6353175"/>
            <a:ext cx="6286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0">
                <a:solidFill>
                  <a:srgbClr val="51697A"/>
                </a:solidFill>
              </a:defRPr>
            </a:defPPr>
            <a:lvl1pPr>
              <a:defRPr sz="1275" b="0">
                <a:solidFill>
                  <a:srgbClr val="51697A"/>
                </a:solidFill>
              </a:defRPr>
            </a:lvl1pPr>
            <a:lvl2pPr>
              <a:defRPr sz="1275" b="0">
                <a:solidFill>
                  <a:srgbClr val="51697A"/>
                </a:solidFill>
              </a:defRPr>
            </a:lvl2pPr>
            <a:lvl3pPr>
              <a:defRPr sz="1275" b="0">
                <a:solidFill>
                  <a:srgbClr val="51697A"/>
                </a:solidFill>
              </a:defRPr>
            </a:lvl3pPr>
            <a:lvl4pPr>
              <a:defRPr sz="1275" b="0">
                <a:solidFill>
                  <a:srgbClr val="51697A"/>
                </a:solidFill>
              </a:defRPr>
            </a:lvl4pPr>
            <a:lvl5pPr>
              <a:defRPr sz="1275" b="0">
                <a:solidFill>
                  <a:srgbClr val="51697A"/>
                </a:solidFill>
              </a:defRPr>
            </a:lvl5pPr>
            <a:lvl6pPr>
              <a:defRPr sz="1275" b="0">
                <a:solidFill>
                  <a:srgbClr val="51697A"/>
                </a:solidFill>
              </a:defRPr>
            </a:lvl6pPr>
            <a:lvl7pPr>
              <a:defRPr sz="1275" b="0">
                <a:solidFill>
                  <a:srgbClr val="51697A"/>
                </a:solidFill>
              </a:defRPr>
            </a:lvl7pPr>
            <a:lvl8pPr>
              <a:defRPr sz="1275" b="0">
                <a:solidFill>
                  <a:srgbClr val="51697A"/>
                </a:solidFill>
              </a:defRPr>
            </a:lvl8pPr>
            <a:lvl9pPr>
              <a:defRPr sz="1275" b="0">
                <a:solidFill>
                  <a:srgbClr val="51697A"/>
                </a:solidFill>
              </a:defRPr>
            </a:lvl9pPr>
          </a:lstStyle>
          <a:p>
            <a:pPr>
              <a:defRPr sz="1275" b="0">
                <a:solidFill>
                  <a:srgbClr val="51697A"/>
                </a:solidFill>
              </a:defRPr>
            </a:pPr>
            <a:r>
              <a:rPr sz="1275" b="0">
                <a:solidFill>
                  <a:srgbClr val="51697A"/>
                </a:solidFill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9558E-918E-4112-BCB6-017D7CCE5EEE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DNS failover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2DEE0F-AB7C-46DE-8904-B9249AACB617}"/>
              </a:ext>
            </a:extLst>
          </p:cNvPr>
          <p:cNvSpPr>
            <a:spLocks noGrp="1"/>
          </p:cNvSpPr>
          <p:nvPr/>
        </p:nvSpPr>
        <p:spPr>
          <a:xfrm>
            <a:off x="3476625" y="15716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Detection, cooldown and DNS caches affect switching time.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D794A5-C71C-41F9-99B2-60C812F5C486}"/>
              </a:ext>
            </a:extLst>
          </p:cNvPr>
          <p:cNvSpPr>
            <a:spLocks noGrp="1"/>
          </p:cNvSpPr>
          <p:nvPr/>
        </p:nvSpPr>
        <p:spPr>
          <a:xfrm>
            <a:off x="666750" y="26193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RPO and RTO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5B808C-3210-42F2-9F3C-84B6C4C68C34}"/>
              </a:ext>
            </a:extLst>
          </p:cNvPr>
          <p:cNvSpPr>
            <a:spLocks noGrp="1"/>
          </p:cNvSpPr>
          <p:nvPr/>
        </p:nvSpPr>
        <p:spPr>
          <a:xfrm>
            <a:off x="3476625" y="26193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Recoverable data-loss window and time to verified service recovery.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6FB098-7603-41FA-BCBB-F9253DDC4DB4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Terraform state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A6C17F-0756-4C95-9C04-0787D816648A}"/>
              </a:ext>
            </a:extLst>
          </p:cNvPr>
          <p:cNvSpPr>
            <a:spLocks noGrp="1"/>
          </p:cNvSpPr>
          <p:nvPr/>
        </p:nvSpPr>
        <p:spPr>
          <a:xfrm>
            <a:off x="3476625" y="366712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Tracks resources rather than database contents.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ADDA27-5D3A-4F8E-93C9-3731599CAD84}"/>
              </a:ext>
            </a:extLst>
          </p:cNvPr>
          <p:cNvSpPr>
            <a:spLocks noGrp="1"/>
          </p:cNvSpPr>
          <p:nvPr/>
        </p:nvSpPr>
        <p:spPr>
          <a:xfrm>
            <a:off x="666750" y="4714875"/>
            <a:ext cx="2571750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007D87"/>
                </a:solidFill>
              </a:defRPr>
            </a:defPPr>
            <a:lvl1pPr>
              <a:defRPr sz="2175" b="1">
                <a:solidFill>
                  <a:srgbClr val="007D87"/>
                </a:solidFill>
              </a:defRPr>
            </a:lvl1pPr>
            <a:lvl2pPr>
              <a:defRPr sz="2175" b="1">
                <a:solidFill>
                  <a:srgbClr val="007D87"/>
                </a:solidFill>
              </a:defRPr>
            </a:lvl2pPr>
            <a:lvl3pPr>
              <a:defRPr sz="2175" b="1">
                <a:solidFill>
                  <a:srgbClr val="007D87"/>
                </a:solidFill>
              </a:defRPr>
            </a:lvl3pPr>
            <a:lvl4pPr>
              <a:defRPr sz="2175" b="1">
                <a:solidFill>
                  <a:srgbClr val="007D87"/>
                </a:solidFill>
              </a:defRPr>
            </a:lvl4pPr>
            <a:lvl5pPr>
              <a:defRPr sz="2175" b="1">
                <a:solidFill>
                  <a:srgbClr val="007D87"/>
                </a:solidFill>
              </a:defRPr>
            </a:lvl5pPr>
            <a:lvl6pPr>
              <a:defRPr sz="2175" b="1">
                <a:solidFill>
                  <a:srgbClr val="007D87"/>
                </a:solidFill>
              </a:defRPr>
            </a:lvl6pPr>
            <a:lvl7pPr>
              <a:defRPr sz="2175" b="1">
                <a:solidFill>
                  <a:srgbClr val="007D87"/>
                </a:solidFill>
              </a:defRPr>
            </a:lvl7pPr>
            <a:lvl8pPr>
              <a:defRPr sz="2175" b="1">
                <a:solidFill>
                  <a:srgbClr val="007D87"/>
                </a:solidFill>
              </a:defRPr>
            </a:lvl8pPr>
            <a:lvl9pPr>
              <a:defRPr sz="2175" b="1">
                <a:solidFill>
                  <a:srgbClr val="007D87"/>
                </a:solidFill>
              </a:defRPr>
            </a:lvl9pPr>
          </a:lstStyle>
          <a:p>
            <a:pPr>
              <a:defRPr sz="2175" b="1">
                <a:solidFill>
                  <a:srgbClr val="007D87"/>
                </a:solidFill>
              </a:defRPr>
            </a:pPr>
            <a:r>
              <a:rPr sz="2175" b="1">
                <a:solidFill>
                  <a:srgbClr val="007D87"/>
                </a:solidFill>
              </a:rPr>
              <a:t>Snapshot recovery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FBE0B4-6D4A-425D-BFB9-72D426D38450}"/>
              </a:ext>
            </a:extLst>
          </p:cNvPr>
          <p:cNvSpPr>
            <a:spLocks noGrp="1"/>
          </p:cNvSpPr>
          <p:nvPr/>
        </p:nvSpPr>
        <p:spPr>
          <a:xfrm>
            <a:off x="3476625" y="4714875"/>
            <a:ext cx="790575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163044"/>
                </a:solidFill>
              </a:defRPr>
            </a:defPPr>
            <a:lvl1pPr>
              <a:defRPr sz="2175" b="0">
                <a:solidFill>
                  <a:srgbClr val="163044"/>
                </a:solidFill>
              </a:defRPr>
            </a:lvl1pPr>
            <a:lvl2pPr>
              <a:defRPr sz="2175" b="0">
                <a:solidFill>
                  <a:srgbClr val="163044"/>
                </a:solidFill>
              </a:defRPr>
            </a:lvl2pPr>
            <a:lvl3pPr>
              <a:defRPr sz="2175" b="0">
                <a:solidFill>
                  <a:srgbClr val="163044"/>
                </a:solidFill>
              </a:defRPr>
            </a:lvl3pPr>
            <a:lvl4pPr>
              <a:defRPr sz="2175" b="0">
                <a:solidFill>
                  <a:srgbClr val="163044"/>
                </a:solidFill>
              </a:defRPr>
            </a:lvl4pPr>
            <a:lvl5pPr>
              <a:defRPr sz="2175" b="0">
                <a:solidFill>
                  <a:srgbClr val="163044"/>
                </a:solidFill>
              </a:defRPr>
            </a:lvl5pPr>
            <a:lvl6pPr>
              <a:defRPr sz="2175" b="0">
                <a:solidFill>
                  <a:srgbClr val="163044"/>
                </a:solidFill>
              </a:defRPr>
            </a:lvl6pPr>
            <a:lvl7pPr>
              <a:defRPr sz="2175" b="0">
                <a:solidFill>
                  <a:srgbClr val="163044"/>
                </a:solidFill>
              </a:defRPr>
            </a:lvl7pPr>
            <a:lvl8pPr>
              <a:defRPr sz="2175" b="0">
                <a:solidFill>
                  <a:srgbClr val="163044"/>
                </a:solidFill>
              </a:defRPr>
            </a:lvl8pPr>
            <a:lvl9pPr>
              <a:defRPr sz="2175" b="0">
                <a:solidFill>
                  <a:srgbClr val="163044"/>
                </a:solidFill>
              </a:defRPr>
            </a:lvl9pPr>
          </a:lstStyle>
          <a:p>
            <a:pPr>
              <a:defRPr sz="2175" b="0">
                <a:solidFill>
                  <a:srgbClr val="163044"/>
                </a:solidFill>
              </a:defRPr>
            </a:pPr>
            <a:r>
              <a:rPr sz="2175" b="0">
                <a:solidFill>
                  <a:srgbClr val="163044"/>
                </a:solidFill>
              </a:rPr>
              <a:t>Requires an explicit restore, integrity check and application cutover.</a:t>
            </a:r>
          </a:p>
        </p:txBody>
      </p:sp>
    </p:spTree>
    <p:extLst>
      <p:ext uri="{BB962C8B-B14F-4D97-AF65-F5344CB8AC3E}">
        <p14:creationId xmlns:p14="http://schemas.microsoft.com/office/powerpoint/2010/main" val="3317611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1770</Words>
  <Application>Microsoft Office PowerPoint</Application>
  <DocSecurity>0</DocSecurity>
  <PresentationFormat>Widescreen</PresentationFormat>
  <Paragraphs>246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Thupesh Kumar</cp:lastModifiedBy>
  <cp:revision>1</cp:revision>
  <dcterms:created xsi:type="dcterms:W3CDTF">2026-10-25T09:03:09Z</dcterms:created>
  <dcterms:modified xsi:type="dcterms:W3CDTF">2026-10-25T09:24:09Z</dcterms:modified>
</cp:coreProperties>
</file>